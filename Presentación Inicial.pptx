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mbria" panose="02040503050406030204" pitchFamily="18" charset="0"/>
      <p:regular r:id="rId14"/>
      <p:bold r:id="rId15"/>
      <p:italic r:id="rId16"/>
      <p:boldItalic r:id="rId17"/>
    </p:embeddedFont>
    <p:embeddedFont>
      <p:font typeface="Cambria Bold" panose="02040803050406030204" pitchFamily="18" charset="0"/>
      <p:bold r:id="rId18"/>
    </p:embeddedFont>
    <p:embeddedFont>
      <p:font typeface="Cambria Bold Italics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9" d="100"/>
          <a:sy n="59" d="100"/>
        </p:scale>
        <p:origin x="37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67077" y="8321139"/>
            <a:ext cx="20289043" cy="1485257"/>
            <a:chOff x="0" y="0"/>
            <a:chExt cx="5343616" cy="3911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43616" cy="391179"/>
            </a:xfrm>
            <a:custGeom>
              <a:avLst/>
              <a:gdLst/>
              <a:ahLst/>
              <a:cxnLst/>
              <a:rect l="l" t="t" r="r" b="b"/>
              <a:pathLst>
                <a:path w="5343616" h="391179">
                  <a:moveTo>
                    <a:pt x="5140416" y="0"/>
                  </a:moveTo>
                  <a:lnTo>
                    <a:pt x="0" y="0"/>
                  </a:lnTo>
                  <a:lnTo>
                    <a:pt x="0" y="391179"/>
                  </a:lnTo>
                  <a:lnTo>
                    <a:pt x="5140416" y="391179"/>
                  </a:lnTo>
                  <a:lnTo>
                    <a:pt x="5343616" y="195589"/>
                  </a:lnTo>
                  <a:lnTo>
                    <a:pt x="5140416" y="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229316" cy="429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24243" y="8635018"/>
            <a:ext cx="1935800" cy="857499"/>
          </a:xfrm>
          <a:custGeom>
            <a:avLst/>
            <a:gdLst/>
            <a:ahLst/>
            <a:cxnLst/>
            <a:rect l="l" t="t" r="r" b="b"/>
            <a:pathLst>
              <a:path w="1935800" h="857499">
                <a:moveTo>
                  <a:pt x="0" y="0"/>
                </a:moveTo>
                <a:lnTo>
                  <a:pt x="1935800" y="0"/>
                </a:lnTo>
                <a:lnTo>
                  <a:pt x="1935800" y="857499"/>
                </a:lnTo>
                <a:lnTo>
                  <a:pt x="0" y="857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6" name="Group 6"/>
          <p:cNvGrpSpPr/>
          <p:nvPr/>
        </p:nvGrpSpPr>
        <p:grpSpPr>
          <a:xfrm>
            <a:off x="-1272914" y="2989724"/>
            <a:ext cx="19821092" cy="2989724"/>
            <a:chOff x="0" y="0"/>
            <a:chExt cx="5220370" cy="7874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220370" cy="787417"/>
            </a:xfrm>
            <a:custGeom>
              <a:avLst/>
              <a:gdLst/>
              <a:ahLst/>
              <a:cxnLst/>
              <a:rect l="l" t="t" r="r" b="b"/>
              <a:pathLst>
                <a:path w="5220370" h="787417">
                  <a:moveTo>
                    <a:pt x="19920" y="0"/>
                  </a:moveTo>
                  <a:lnTo>
                    <a:pt x="5200450" y="0"/>
                  </a:lnTo>
                  <a:cubicBezTo>
                    <a:pt x="5205733" y="0"/>
                    <a:pt x="5210799" y="2099"/>
                    <a:pt x="5214535" y="5834"/>
                  </a:cubicBezTo>
                  <a:cubicBezTo>
                    <a:pt x="5218271" y="9570"/>
                    <a:pt x="5220370" y="14637"/>
                    <a:pt x="5220370" y="19920"/>
                  </a:cubicBezTo>
                  <a:lnTo>
                    <a:pt x="5220370" y="767497"/>
                  </a:lnTo>
                  <a:cubicBezTo>
                    <a:pt x="5220370" y="778498"/>
                    <a:pt x="5211451" y="787417"/>
                    <a:pt x="5200450" y="787417"/>
                  </a:cubicBezTo>
                  <a:lnTo>
                    <a:pt x="19920" y="787417"/>
                  </a:lnTo>
                  <a:cubicBezTo>
                    <a:pt x="8919" y="787417"/>
                    <a:pt x="0" y="778498"/>
                    <a:pt x="0" y="767497"/>
                  </a:cubicBezTo>
                  <a:lnTo>
                    <a:pt x="0" y="19920"/>
                  </a:lnTo>
                  <a:cubicBezTo>
                    <a:pt x="0" y="8919"/>
                    <a:pt x="8919" y="0"/>
                    <a:pt x="19920" y="0"/>
                  </a:cubicBezTo>
                  <a:close/>
                </a:path>
              </a:pathLst>
            </a:custGeom>
            <a:solidFill>
              <a:srgbClr val="141414">
                <a:alpha val="86667"/>
              </a:srgbClr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5220370" cy="8255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-253120" y="-1381161"/>
            <a:ext cx="18801298" cy="7359879"/>
          </a:xfrm>
          <a:custGeom>
            <a:avLst/>
            <a:gdLst/>
            <a:ahLst/>
            <a:cxnLst/>
            <a:rect l="l" t="t" r="r" b="b"/>
            <a:pathLst>
              <a:path w="18801298" h="7359879">
                <a:moveTo>
                  <a:pt x="0" y="0"/>
                </a:moveTo>
                <a:lnTo>
                  <a:pt x="18801298" y="0"/>
                </a:lnTo>
                <a:lnTo>
                  <a:pt x="18801298" y="7359879"/>
                </a:lnTo>
                <a:lnTo>
                  <a:pt x="0" y="73598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21847" b="-21847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TextBox 10"/>
          <p:cNvSpPr txBox="1"/>
          <p:nvPr/>
        </p:nvSpPr>
        <p:spPr>
          <a:xfrm>
            <a:off x="1028700" y="8689118"/>
            <a:ext cx="2077403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FFFFFF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Facultad de minas</a:t>
            </a:r>
          </a:p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FFFFFF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Sede Medellín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00376" y="6578793"/>
            <a:ext cx="8887248" cy="1600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Análisis Geoespacial</a:t>
            </a:r>
          </a:p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Valeria Aguiar Aguirre</a:t>
            </a:r>
          </a:p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2026-2s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-253120" y="0"/>
            <a:ext cx="19015079" cy="5978718"/>
            <a:chOff x="0" y="0"/>
            <a:chExt cx="5008087" cy="15746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08087" cy="1574642"/>
            </a:xfrm>
            <a:custGeom>
              <a:avLst/>
              <a:gdLst/>
              <a:ahLst/>
              <a:cxnLst/>
              <a:rect l="l" t="t" r="r" b="b"/>
              <a:pathLst>
                <a:path w="5008087" h="1574642">
                  <a:moveTo>
                    <a:pt x="20764" y="0"/>
                  </a:moveTo>
                  <a:lnTo>
                    <a:pt x="4987322" y="0"/>
                  </a:lnTo>
                  <a:cubicBezTo>
                    <a:pt x="4992829" y="0"/>
                    <a:pt x="4998111" y="2188"/>
                    <a:pt x="5002005" y="6082"/>
                  </a:cubicBezTo>
                  <a:cubicBezTo>
                    <a:pt x="5005899" y="9976"/>
                    <a:pt x="5008087" y="15257"/>
                    <a:pt x="5008087" y="20764"/>
                  </a:cubicBezTo>
                  <a:lnTo>
                    <a:pt x="5008087" y="1553877"/>
                  </a:lnTo>
                  <a:cubicBezTo>
                    <a:pt x="5008087" y="1559384"/>
                    <a:pt x="5005899" y="1564666"/>
                    <a:pt x="5002005" y="1568560"/>
                  </a:cubicBezTo>
                  <a:cubicBezTo>
                    <a:pt x="4998111" y="1572454"/>
                    <a:pt x="4992829" y="1574642"/>
                    <a:pt x="4987322" y="1574642"/>
                  </a:cubicBezTo>
                  <a:lnTo>
                    <a:pt x="20764" y="1574642"/>
                  </a:lnTo>
                  <a:cubicBezTo>
                    <a:pt x="15257" y="1574642"/>
                    <a:pt x="9976" y="1572454"/>
                    <a:pt x="6082" y="1568560"/>
                  </a:cubicBezTo>
                  <a:cubicBezTo>
                    <a:pt x="2188" y="1564666"/>
                    <a:pt x="0" y="1559384"/>
                    <a:pt x="0" y="1553877"/>
                  </a:cubicBezTo>
                  <a:lnTo>
                    <a:pt x="0" y="20764"/>
                  </a:lnTo>
                  <a:cubicBezTo>
                    <a:pt x="0" y="15257"/>
                    <a:pt x="2188" y="9976"/>
                    <a:pt x="6082" y="6082"/>
                  </a:cubicBezTo>
                  <a:cubicBezTo>
                    <a:pt x="9976" y="2188"/>
                    <a:pt x="15257" y="0"/>
                    <a:pt x="20764" y="0"/>
                  </a:cubicBezTo>
                  <a:close/>
                </a:path>
              </a:pathLst>
            </a:custGeom>
            <a:solidFill>
              <a:srgbClr val="141414">
                <a:alpha val="74902"/>
              </a:srgbClr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5008087" cy="1612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435057" y="3976355"/>
            <a:ext cx="15824243" cy="1383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24"/>
              </a:lnSpc>
              <a:spcBef>
                <a:spcPct val="0"/>
              </a:spcBef>
            </a:pPr>
            <a:r>
              <a:rPr lang="en-US" sz="3945" b="1" i="1">
                <a:solidFill>
                  <a:srgbClr val="FFFFFF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Análisis multitemporal de los cambios de cobertura en El DRMI Bahía de Cispatá, La Balsa y Tinajones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67077" y="8321139"/>
            <a:ext cx="20289043" cy="1485257"/>
            <a:chOff x="0" y="0"/>
            <a:chExt cx="5343616" cy="3911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43616" cy="391179"/>
            </a:xfrm>
            <a:custGeom>
              <a:avLst/>
              <a:gdLst/>
              <a:ahLst/>
              <a:cxnLst/>
              <a:rect l="l" t="t" r="r" b="b"/>
              <a:pathLst>
                <a:path w="5343616" h="391179">
                  <a:moveTo>
                    <a:pt x="5140416" y="0"/>
                  </a:moveTo>
                  <a:lnTo>
                    <a:pt x="0" y="0"/>
                  </a:lnTo>
                  <a:lnTo>
                    <a:pt x="0" y="391179"/>
                  </a:lnTo>
                  <a:lnTo>
                    <a:pt x="5140416" y="391179"/>
                  </a:lnTo>
                  <a:lnTo>
                    <a:pt x="5343616" y="195589"/>
                  </a:lnTo>
                  <a:lnTo>
                    <a:pt x="5140416" y="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229316" cy="429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24243" y="8635018"/>
            <a:ext cx="1935800" cy="857499"/>
          </a:xfrm>
          <a:custGeom>
            <a:avLst/>
            <a:gdLst/>
            <a:ahLst/>
            <a:cxnLst/>
            <a:rect l="l" t="t" r="r" b="b"/>
            <a:pathLst>
              <a:path w="1935800" h="857499">
                <a:moveTo>
                  <a:pt x="0" y="0"/>
                </a:moveTo>
                <a:lnTo>
                  <a:pt x="1935800" y="0"/>
                </a:lnTo>
                <a:lnTo>
                  <a:pt x="1935800" y="857499"/>
                </a:lnTo>
                <a:lnTo>
                  <a:pt x="0" y="857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Freeform 6"/>
          <p:cNvSpPr/>
          <p:nvPr/>
        </p:nvSpPr>
        <p:spPr>
          <a:xfrm>
            <a:off x="707203" y="5695174"/>
            <a:ext cx="650981" cy="1009272"/>
          </a:xfrm>
          <a:custGeom>
            <a:avLst/>
            <a:gdLst/>
            <a:ahLst/>
            <a:cxnLst/>
            <a:rect l="l" t="t" r="r" b="b"/>
            <a:pathLst>
              <a:path w="650981" h="1009272">
                <a:moveTo>
                  <a:pt x="0" y="0"/>
                </a:moveTo>
                <a:lnTo>
                  <a:pt x="650981" y="0"/>
                </a:lnTo>
                <a:lnTo>
                  <a:pt x="650981" y="1009272"/>
                </a:lnTo>
                <a:lnTo>
                  <a:pt x="0" y="10092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>
            <a:off x="493377" y="4207889"/>
            <a:ext cx="1078634" cy="1078634"/>
          </a:xfrm>
          <a:custGeom>
            <a:avLst/>
            <a:gdLst/>
            <a:ahLst/>
            <a:cxnLst/>
            <a:rect l="l" t="t" r="r" b="b"/>
            <a:pathLst>
              <a:path w="1078634" h="1078634">
                <a:moveTo>
                  <a:pt x="0" y="0"/>
                </a:moveTo>
                <a:lnTo>
                  <a:pt x="1078633" y="0"/>
                </a:lnTo>
                <a:lnTo>
                  <a:pt x="1078633" y="1078633"/>
                </a:lnTo>
                <a:lnTo>
                  <a:pt x="0" y="107863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Freeform 8"/>
          <p:cNvSpPr/>
          <p:nvPr/>
        </p:nvSpPr>
        <p:spPr>
          <a:xfrm>
            <a:off x="454672" y="2732280"/>
            <a:ext cx="1156044" cy="1115582"/>
          </a:xfrm>
          <a:custGeom>
            <a:avLst/>
            <a:gdLst/>
            <a:ahLst/>
            <a:cxnLst/>
            <a:rect l="l" t="t" r="r" b="b"/>
            <a:pathLst>
              <a:path w="1156044" h="1115582">
                <a:moveTo>
                  <a:pt x="0" y="0"/>
                </a:moveTo>
                <a:lnTo>
                  <a:pt x="1156044" y="0"/>
                </a:lnTo>
                <a:lnTo>
                  <a:pt x="1156044" y="1115582"/>
                </a:lnTo>
                <a:lnTo>
                  <a:pt x="0" y="111558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9"/>
          <p:cNvSpPr/>
          <p:nvPr/>
        </p:nvSpPr>
        <p:spPr>
          <a:xfrm>
            <a:off x="0" y="1327571"/>
            <a:ext cx="7315200" cy="73152"/>
          </a:xfrm>
          <a:custGeom>
            <a:avLst/>
            <a:gdLst/>
            <a:ahLst/>
            <a:cxnLst/>
            <a:rect l="l" t="t" r="r" b="b"/>
            <a:pathLst>
              <a:path w="7315200" h="73152">
                <a:moveTo>
                  <a:pt x="0" y="0"/>
                </a:moveTo>
                <a:lnTo>
                  <a:pt x="7315200" y="0"/>
                </a:lnTo>
                <a:lnTo>
                  <a:pt x="7315200" y="73152"/>
                </a:lnTo>
                <a:lnTo>
                  <a:pt x="0" y="7315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Freeform 10"/>
          <p:cNvSpPr/>
          <p:nvPr/>
        </p:nvSpPr>
        <p:spPr>
          <a:xfrm>
            <a:off x="6246169" y="1565349"/>
            <a:ext cx="11353510" cy="6398969"/>
          </a:xfrm>
          <a:custGeom>
            <a:avLst/>
            <a:gdLst/>
            <a:ahLst/>
            <a:cxnLst/>
            <a:rect l="l" t="t" r="r" b="b"/>
            <a:pathLst>
              <a:path w="11353510" h="6398969">
                <a:moveTo>
                  <a:pt x="0" y="0"/>
                </a:moveTo>
                <a:lnTo>
                  <a:pt x="11353511" y="0"/>
                </a:lnTo>
                <a:lnTo>
                  <a:pt x="11353511" y="6398969"/>
                </a:lnTo>
                <a:lnTo>
                  <a:pt x="0" y="63989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TextBox 11"/>
          <p:cNvSpPr txBox="1"/>
          <p:nvPr/>
        </p:nvSpPr>
        <p:spPr>
          <a:xfrm>
            <a:off x="1028700" y="8689118"/>
            <a:ext cx="2077403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FFFFFF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Facultad de minas</a:t>
            </a:r>
          </a:p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FFFFFF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Sede Medellín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24798" y="489990"/>
            <a:ext cx="11842743" cy="72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sz="41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El DRMI Bahía de Cispatá, La Balsa y Tinajones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48799" y="2838310"/>
            <a:ext cx="2192473" cy="451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6"/>
              </a:lnSpc>
            </a:pPr>
            <a:r>
              <a:rPr lang="en-US" sz="263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Área protegida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48799" y="4175684"/>
            <a:ext cx="2667888" cy="451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6"/>
              </a:lnSpc>
            </a:pPr>
            <a:r>
              <a:rPr lang="en-US" sz="263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Declarada en 2006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71729" y="5590542"/>
            <a:ext cx="1415709" cy="451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6"/>
              </a:lnSpc>
            </a:pPr>
            <a:r>
              <a:rPr lang="en-US" sz="2633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27.800 ha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48799" y="4726733"/>
            <a:ext cx="3278254" cy="559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  <a:spcBef>
                <a:spcPct val="0"/>
              </a:spcBef>
            </a:pPr>
            <a:r>
              <a:rPr lang="en-US" sz="1579">
                <a:solidFill>
                  <a:srgbClr val="737373"/>
                </a:solidFill>
                <a:latin typeface="Cambria"/>
                <a:ea typeface="Cambria"/>
                <a:cs typeface="Cambria"/>
                <a:sym typeface="Cambria"/>
              </a:rPr>
              <a:t>Acuerdo Nº 56 del Consejo Directivo de la CVS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771729" y="3462508"/>
            <a:ext cx="3278254" cy="278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  <a:spcBef>
                <a:spcPct val="0"/>
              </a:spcBef>
            </a:pPr>
            <a:r>
              <a:rPr lang="en-US" sz="1579">
                <a:solidFill>
                  <a:srgbClr val="737373"/>
                </a:solidFill>
                <a:latin typeface="Cambria"/>
                <a:ea typeface="Cambria"/>
                <a:cs typeface="Cambria"/>
                <a:sym typeface="Cambria"/>
              </a:rPr>
              <a:t>Distrito Regional de Manejo Integrado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48799" y="6144657"/>
            <a:ext cx="3278254" cy="559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  <a:spcBef>
                <a:spcPct val="0"/>
              </a:spcBef>
            </a:pPr>
            <a:r>
              <a:rPr lang="en-US" sz="1579">
                <a:solidFill>
                  <a:srgbClr val="737373"/>
                </a:solidFill>
                <a:latin typeface="Cambria"/>
                <a:ea typeface="Cambria"/>
                <a:cs typeface="Cambria"/>
                <a:sym typeface="Cambria"/>
              </a:rPr>
              <a:t>San Antero, San Bernardo del Viento y Santa Cruz de Lorica, Córdoba.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92740"/>
          </a:xfrm>
          <a:custGeom>
            <a:avLst/>
            <a:gdLst/>
            <a:ahLst/>
            <a:cxnLst/>
            <a:rect l="l" t="t" r="r" b="b"/>
            <a:pathLst>
              <a:path w="18288000" h="10492740">
                <a:moveTo>
                  <a:pt x="0" y="0"/>
                </a:moveTo>
                <a:lnTo>
                  <a:pt x="18288000" y="0"/>
                </a:lnTo>
                <a:lnTo>
                  <a:pt x="18288000" y="10492740"/>
                </a:lnTo>
                <a:lnTo>
                  <a:pt x="0" y="104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468923" y="0"/>
            <a:ext cx="18756923" cy="10287000"/>
          </a:xfrm>
          <a:custGeom>
            <a:avLst/>
            <a:gdLst/>
            <a:ahLst/>
            <a:cxnLst/>
            <a:rect l="l" t="t" r="r" b="b"/>
            <a:pathLst>
              <a:path w="18756923" h="10287000">
                <a:moveTo>
                  <a:pt x="0" y="0"/>
                </a:moveTo>
                <a:lnTo>
                  <a:pt x="18756923" y="0"/>
                </a:lnTo>
                <a:lnTo>
                  <a:pt x="1875692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492740"/>
          </a:xfrm>
          <a:custGeom>
            <a:avLst/>
            <a:gdLst/>
            <a:ahLst/>
            <a:cxnLst/>
            <a:rect l="l" t="t" r="r" b="b"/>
            <a:pathLst>
              <a:path w="18288000" h="10492740">
                <a:moveTo>
                  <a:pt x="0" y="0"/>
                </a:moveTo>
                <a:lnTo>
                  <a:pt x="18288000" y="0"/>
                </a:lnTo>
                <a:lnTo>
                  <a:pt x="18288000" y="10492740"/>
                </a:lnTo>
                <a:lnTo>
                  <a:pt x="0" y="1049274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16174874" y="2449897"/>
            <a:ext cx="1084426" cy="381840"/>
          </a:xfrm>
          <a:custGeom>
            <a:avLst/>
            <a:gdLst/>
            <a:ahLst/>
            <a:cxnLst/>
            <a:rect l="l" t="t" r="r" b="b"/>
            <a:pathLst>
              <a:path w="1084426" h="381840">
                <a:moveTo>
                  <a:pt x="0" y="0"/>
                </a:moveTo>
                <a:lnTo>
                  <a:pt x="1084426" y="0"/>
                </a:lnTo>
                <a:lnTo>
                  <a:pt x="1084426" y="381841"/>
                </a:lnTo>
                <a:lnTo>
                  <a:pt x="0" y="381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Freeform 4"/>
          <p:cNvSpPr/>
          <p:nvPr/>
        </p:nvSpPr>
        <p:spPr>
          <a:xfrm>
            <a:off x="16174874" y="3822373"/>
            <a:ext cx="1084426" cy="381840"/>
          </a:xfrm>
          <a:custGeom>
            <a:avLst/>
            <a:gdLst/>
            <a:ahLst/>
            <a:cxnLst/>
            <a:rect l="l" t="t" r="r" b="b"/>
            <a:pathLst>
              <a:path w="1084426" h="381840">
                <a:moveTo>
                  <a:pt x="0" y="0"/>
                </a:moveTo>
                <a:lnTo>
                  <a:pt x="1084426" y="0"/>
                </a:lnTo>
                <a:lnTo>
                  <a:pt x="1084426" y="381841"/>
                </a:lnTo>
                <a:lnTo>
                  <a:pt x="0" y="381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5" name="Freeform 5"/>
          <p:cNvSpPr/>
          <p:nvPr/>
        </p:nvSpPr>
        <p:spPr>
          <a:xfrm>
            <a:off x="16174874" y="5246370"/>
            <a:ext cx="1084426" cy="381840"/>
          </a:xfrm>
          <a:custGeom>
            <a:avLst/>
            <a:gdLst/>
            <a:ahLst/>
            <a:cxnLst/>
            <a:rect l="l" t="t" r="r" b="b"/>
            <a:pathLst>
              <a:path w="1084426" h="381840">
                <a:moveTo>
                  <a:pt x="0" y="0"/>
                </a:moveTo>
                <a:lnTo>
                  <a:pt x="1084426" y="0"/>
                </a:lnTo>
                <a:lnTo>
                  <a:pt x="1084426" y="381840"/>
                </a:lnTo>
                <a:lnTo>
                  <a:pt x="0" y="3818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Freeform 6"/>
          <p:cNvSpPr/>
          <p:nvPr/>
        </p:nvSpPr>
        <p:spPr>
          <a:xfrm>
            <a:off x="16174874" y="7613994"/>
            <a:ext cx="1218056" cy="1029546"/>
          </a:xfrm>
          <a:custGeom>
            <a:avLst/>
            <a:gdLst/>
            <a:ahLst/>
            <a:cxnLst/>
            <a:rect l="l" t="t" r="r" b="b"/>
            <a:pathLst>
              <a:path w="1218056" h="1029546">
                <a:moveTo>
                  <a:pt x="0" y="0"/>
                </a:moveTo>
                <a:lnTo>
                  <a:pt x="1218056" y="0"/>
                </a:lnTo>
                <a:lnTo>
                  <a:pt x="1218056" y="1029546"/>
                </a:lnTo>
                <a:lnTo>
                  <a:pt x="0" y="1029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023" r="-70023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>
            <a:off x="16327274" y="2602297"/>
            <a:ext cx="1084426" cy="381840"/>
          </a:xfrm>
          <a:custGeom>
            <a:avLst/>
            <a:gdLst/>
            <a:ahLst/>
            <a:cxnLst/>
            <a:rect l="l" t="t" r="r" b="b"/>
            <a:pathLst>
              <a:path w="1084426" h="381840">
                <a:moveTo>
                  <a:pt x="0" y="0"/>
                </a:moveTo>
                <a:lnTo>
                  <a:pt x="1084426" y="0"/>
                </a:lnTo>
                <a:lnTo>
                  <a:pt x="1084426" y="381841"/>
                </a:lnTo>
                <a:lnTo>
                  <a:pt x="0" y="381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Freeform 8"/>
          <p:cNvSpPr/>
          <p:nvPr/>
        </p:nvSpPr>
        <p:spPr>
          <a:xfrm>
            <a:off x="16193644" y="6106329"/>
            <a:ext cx="1218056" cy="1029546"/>
          </a:xfrm>
          <a:custGeom>
            <a:avLst/>
            <a:gdLst/>
            <a:ahLst/>
            <a:cxnLst/>
            <a:rect l="l" t="t" r="r" b="b"/>
            <a:pathLst>
              <a:path w="1218056" h="1029546">
                <a:moveTo>
                  <a:pt x="0" y="0"/>
                </a:moveTo>
                <a:lnTo>
                  <a:pt x="1218056" y="0"/>
                </a:lnTo>
                <a:lnTo>
                  <a:pt x="1218056" y="1029546"/>
                </a:lnTo>
                <a:lnTo>
                  <a:pt x="0" y="1029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023" r="-70023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Freeform 9"/>
          <p:cNvSpPr/>
          <p:nvPr/>
        </p:nvSpPr>
        <p:spPr>
          <a:xfrm>
            <a:off x="16108059" y="4628727"/>
            <a:ext cx="1218056" cy="1029546"/>
          </a:xfrm>
          <a:custGeom>
            <a:avLst/>
            <a:gdLst/>
            <a:ahLst/>
            <a:cxnLst/>
            <a:rect l="l" t="t" r="r" b="b"/>
            <a:pathLst>
              <a:path w="1218056" h="1029546">
                <a:moveTo>
                  <a:pt x="0" y="0"/>
                </a:moveTo>
                <a:lnTo>
                  <a:pt x="1218056" y="0"/>
                </a:lnTo>
                <a:lnTo>
                  <a:pt x="1218056" y="1029546"/>
                </a:lnTo>
                <a:lnTo>
                  <a:pt x="0" y="1029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023" r="-70023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0" name="Freeform 10"/>
          <p:cNvSpPr/>
          <p:nvPr/>
        </p:nvSpPr>
        <p:spPr>
          <a:xfrm>
            <a:off x="16108059" y="3174668"/>
            <a:ext cx="1218056" cy="1029546"/>
          </a:xfrm>
          <a:custGeom>
            <a:avLst/>
            <a:gdLst/>
            <a:ahLst/>
            <a:cxnLst/>
            <a:rect l="l" t="t" r="r" b="b"/>
            <a:pathLst>
              <a:path w="1218056" h="1029546">
                <a:moveTo>
                  <a:pt x="0" y="0"/>
                </a:moveTo>
                <a:lnTo>
                  <a:pt x="1218056" y="0"/>
                </a:lnTo>
                <a:lnTo>
                  <a:pt x="1218056" y="1029546"/>
                </a:lnTo>
                <a:lnTo>
                  <a:pt x="0" y="1029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023" r="-70023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1" name="Freeform 11"/>
          <p:cNvSpPr/>
          <p:nvPr/>
        </p:nvSpPr>
        <p:spPr>
          <a:xfrm>
            <a:off x="16108059" y="1802192"/>
            <a:ext cx="1218056" cy="1029546"/>
          </a:xfrm>
          <a:custGeom>
            <a:avLst/>
            <a:gdLst/>
            <a:ahLst/>
            <a:cxnLst/>
            <a:rect l="l" t="t" r="r" b="b"/>
            <a:pathLst>
              <a:path w="1218056" h="1029546">
                <a:moveTo>
                  <a:pt x="0" y="0"/>
                </a:moveTo>
                <a:lnTo>
                  <a:pt x="1218056" y="0"/>
                </a:lnTo>
                <a:lnTo>
                  <a:pt x="1218056" y="1029546"/>
                </a:lnTo>
                <a:lnTo>
                  <a:pt x="0" y="1029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0023" r="-70023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2" name="Freeform 12"/>
          <p:cNvSpPr/>
          <p:nvPr/>
        </p:nvSpPr>
        <p:spPr>
          <a:xfrm>
            <a:off x="14096117" y="1741229"/>
            <a:ext cx="1867868" cy="1242909"/>
          </a:xfrm>
          <a:custGeom>
            <a:avLst/>
            <a:gdLst/>
            <a:ahLst/>
            <a:cxnLst/>
            <a:rect l="l" t="t" r="r" b="b"/>
            <a:pathLst>
              <a:path w="1867868" h="1242909">
                <a:moveTo>
                  <a:pt x="0" y="0"/>
                </a:moveTo>
                <a:lnTo>
                  <a:pt x="1867868" y="0"/>
                </a:lnTo>
                <a:lnTo>
                  <a:pt x="1867868" y="1242909"/>
                </a:lnTo>
                <a:lnTo>
                  <a:pt x="0" y="12429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938" b="-8843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3" name="Freeform 13"/>
          <p:cNvSpPr/>
          <p:nvPr/>
        </p:nvSpPr>
        <p:spPr>
          <a:xfrm>
            <a:off x="14096117" y="3107820"/>
            <a:ext cx="1816719" cy="1250461"/>
          </a:xfrm>
          <a:custGeom>
            <a:avLst/>
            <a:gdLst/>
            <a:ahLst/>
            <a:cxnLst/>
            <a:rect l="l" t="t" r="r" b="b"/>
            <a:pathLst>
              <a:path w="1816719" h="1250461">
                <a:moveTo>
                  <a:pt x="0" y="0"/>
                </a:moveTo>
                <a:lnTo>
                  <a:pt x="1816719" y="0"/>
                </a:lnTo>
                <a:lnTo>
                  <a:pt x="1816719" y="1250461"/>
                </a:lnTo>
                <a:lnTo>
                  <a:pt x="0" y="12504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38306" b="-44940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4" name="Freeform 14"/>
          <p:cNvSpPr/>
          <p:nvPr/>
        </p:nvSpPr>
        <p:spPr>
          <a:xfrm>
            <a:off x="14096117" y="7478775"/>
            <a:ext cx="1867868" cy="1351246"/>
          </a:xfrm>
          <a:custGeom>
            <a:avLst/>
            <a:gdLst/>
            <a:ahLst/>
            <a:cxnLst/>
            <a:rect l="l" t="t" r="r" b="b"/>
            <a:pathLst>
              <a:path w="1867868" h="1351246">
                <a:moveTo>
                  <a:pt x="0" y="0"/>
                </a:moveTo>
                <a:lnTo>
                  <a:pt x="1867868" y="0"/>
                </a:lnTo>
                <a:lnTo>
                  <a:pt x="1867868" y="1351246"/>
                </a:lnTo>
                <a:lnTo>
                  <a:pt x="0" y="135124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r="-19874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5" name="Freeform 15"/>
          <p:cNvSpPr/>
          <p:nvPr/>
        </p:nvSpPr>
        <p:spPr>
          <a:xfrm>
            <a:off x="10499386" y="6706724"/>
            <a:ext cx="1918727" cy="565392"/>
          </a:xfrm>
          <a:custGeom>
            <a:avLst/>
            <a:gdLst/>
            <a:ahLst/>
            <a:cxnLst/>
            <a:rect l="l" t="t" r="r" b="b"/>
            <a:pathLst>
              <a:path w="1918727" h="565392">
                <a:moveTo>
                  <a:pt x="0" y="0"/>
                </a:moveTo>
                <a:lnTo>
                  <a:pt x="1918727" y="0"/>
                </a:lnTo>
                <a:lnTo>
                  <a:pt x="1918727" y="565393"/>
                </a:lnTo>
                <a:lnTo>
                  <a:pt x="0" y="5653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740" r="-13632" b="-99999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6" name="Freeform 16"/>
          <p:cNvSpPr/>
          <p:nvPr/>
        </p:nvSpPr>
        <p:spPr>
          <a:xfrm rot="-5400000">
            <a:off x="11979882" y="6539456"/>
            <a:ext cx="554154" cy="163293"/>
          </a:xfrm>
          <a:custGeom>
            <a:avLst/>
            <a:gdLst/>
            <a:ahLst/>
            <a:cxnLst/>
            <a:rect l="l" t="t" r="r" b="b"/>
            <a:pathLst>
              <a:path w="554154" h="163293">
                <a:moveTo>
                  <a:pt x="0" y="0"/>
                </a:moveTo>
                <a:lnTo>
                  <a:pt x="554154" y="0"/>
                </a:lnTo>
                <a:lnTo>
                  <a:pt x="554154" y="163293"/>
                </a:lnTo>
                <a:lnTo>
                  <a:pt x="0" y="1632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3740" r="-13632" b="-99999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17" name="Freeform 17"/>
          <p:cNvSpPr/>
          <p:nvPr/>
        </p:nvSpPr>
        <p:spPr>
          <a:xfrm>
            <a:off x="14096117" y="4548781"/>
            <a:ext cx="1867868" cy="1272138"/>
          </a:xfrm>
          <a:custGeom>
            <a:avLst/>
            <a:gdLst/>
            <a:ahLst/>
            <a:cxnLst/>
            <a:rect l="l" t="t" r="r" b="b"/>
            <a:pathLst>
              <a:path w="1867868" h="1272138">
                <a:moveTo>
                  <a:pt x="0" y="0"/>
                </a:moveTo>
                <a:lnTo>
                  <a:pt x="1867868" y="0"/>
                </a:lnTo>
                <a:lnTo>
                  <a:pt x="1867868" y="1272139"/>
                </a:lnTo>
                <a:lnTo>
                  <a:pt x="0" y="12721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30250" b="-130229"/>
            </a:stretch>
          </a:blipFill>
        </p:spPr>
        <p:txBody>
          <a:bodyPr/>
          <a:lstStyle/>
          <a:p>
            <a:endParaRPr lang="es-CO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447680" cy="10584356"/>
          </a:xfrm>
          <a:custGeom>
            <a:avLst/>
            <a:gdLst/>
            <a:ahLst/>
            <a:cxnLst/>
            <a:rect l="l" t="t" r="r" b="b"/>
            <a:pathLst>
              <a:path w="18447680" h="10584356">
                <a:moveTo>
                  <a:pt x="0" y="0"/>
                </a:moveTo>
                <a:lnTo>
                  <a:pt x="18447680" y="0"/>
                </a:lnTo>
                <a:lnTo>
                  <a:pt x="18447680" y="10584356"/>
                </a:lnTo>
                <a:lnTo>
                  <a:pt x="0" y="105843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3" name="Freeform 3"/>
          <p:cNvSpPr/>
          <p:nvPr/>
        </p:nvSpPr>
        <p:spPr>
          <a:xfrm>
            <a:off x="9947258" y="7407088"/>
            <a:ext cx="2244856" cy="1029546"/>
          </a:xfrm>
          <a:custGeom>
            <a:avLst/>
            <a:gdLst/>
            <a:ahLst/>
            <a:cxnLst/>
            <a:rect l="l" t="t" r="r" b="b"/>
            <a:pathLst>
              <a:path w="2244856" h="1029546">
                <a:moveTo>
                  <a:pt x="0" y="0"/>
                </a:moveTo>
                <a:lnTo>
                  <a:pt x="2244856" y="0"/>
                </a:lnTo>
                <a:lnTo>
                  <a:pt x="2244856" y="1029546"/>
                </a:lnTo>
                <a:lnTo>
                  <a:pt x="0" y="10295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184" t="-4197" b="-4197"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4" name="TextBox 4"/>
          <p:cNvSpPr txBox="1"/>
          <p:nvPr/>
        </p:nvSpPr>
        <p:spPr>
          <a:xfrm>
            <a:off x="10281839" y="7431006"/>
            <a:ext cx="1124902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Escala: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61117" y="0"/>
            <a:ext cx="15026883" cy="8331020"/>
          </a:xfrm>
          <a:custGeom>
            <a:avLst/>
            <a:gdLst/>
            <a:ahLst/>
            <a:cxnLst/>
            <a:rect l="l" t="t" r="r" b="b"/>
            <a:pathLst>
              <a:path w="15026883" h="8331020">
                <a:moveTo>
                  <a:pt x="0" y="0"/>
                </a:moveTo>
                <a:lnTo>
                  <a:pt x="15026883" y="0"/>
                </a:lnTo>
                <a:lnTo>
                  <a:pt x="15026883" y="8331020"/>
                </a:lnTo>
                <a:lnTo>
                  <a:pt x="0" y="8331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-567077" y="8321139"/>
            <a:ext cx="20289043" cy="1485257"/>
            <a:chOff x="0" y="0"/>
            <a:chExt cx="5343616" cy="3911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43616" cy="391179"/>
            </a:xfrm>
            <a:custGeom>
              <a:avLst/>
              <a:gdLst/>
              <a:ahLst/>
              <a:cxnLst/>
              <a:rect l="l" t="t" r="r" b="b"/>
              <a:pathLst>
                <a:path w="5343616" h="391179">
                  <a:moveTo>
                    <a:pt x="5140416" y="0"/>
                  </a:moveTo>
                  <a:lnTo>
                    <a:pt x="0" y="0"/>
                  </a:lnTo>
                  <a:lnTo>
                    <a:pt x="0" y="391179"/>
                  </a:lnTo>
                  <a:lnTo>
                    <a:pt x="5140416" y="391179"/>
                  </a:lnTo>
                  <a:lnTo>
                    <a:pt x="5343616" y="195589"/>
                  </a:lnTo>
                  <a:lnTo>
                    <a:pt x="5140416" y="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229316" cy="429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824243" y="8635018"/>
            <a:ext cx="1935800" cy="857499"/>
          </a:xfrm>
          <a:custGeom>
            <a:avLst/>
            <a:gdLst/>
            <a:ahLst/>
            <a:cxnLst/>
            <a:rect l="l" t="t" r="r" b="b"/>
            <a:pathLst>
              <a:path w="1935800" h="857499">
                <a:moveTo>
                  <a:pt x="0" y="0"/>
                </a:moveTo>
                <a:lnTo>
                  <a:pt x="1935800" y="0"/>
                </a:lnTo>
                <a:lnTo>
                  <a:pt x="1935800" y="857499"/>
                </a:lnTo>
                <a:lnTo>
                  <a:pt x="0" y="857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>
            <a:off x="760879" y="4225050"/>
            <a:ext cx="3743779" cy="3828865"/>
          </a:xfrm>
          <a:custGeom>
            <a:avLst/>
            <a:gdLst/>
            <a:ahLst/>
            <a:cxnLst/>
            <a:rect l="l" t="t" r="r" b="b"/>
            <a:pathLst>
              <a:path w="3743779" h="3828865">
                <a:moveTo>
                  <a:pt x="0" y="0"/>
                </a:moveTo>
                <a:lnTo>
                  <a:pt x="3743779" y="0"/>
                </a:lnTo>
                <a:lnTo>
                  <a:pt x="3743779" y="3828866"/>
                </a:lnTo>
                <a:lnTo>
                  <a:pt x="0" y="3828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TextBox 8"/>
          <p:cNvSpPr txBox="1"/>
          <p:nvPr/>
        </p:nvSpPr>
        <p:spPr>
          <a:xfrm>
            <a:off x="1028700" y="8689118"/>
            <a:ext cx="2077403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FFFFFF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Facultad de minas</a:t>
            </a:r>
          </a:p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FFFFFF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Sede Medellín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6672" y="1740937"/>
            <a:ext cx="2106097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318209" y="0"/>
            <a:ext cx="14969791" cy="8321139"/>
          </a:xfrm>
          <a:custGeom>
            <a:avLst/>
            <a:gdLst/>
            <a:ahLst/>
            <a:cxnLst/>
            <a:rect l="l" t="t" r="r" b="b"/>
            <a:pathLst>
              <a:path w="14969791" h="8321139">
                <a:moveTo>
                  <a:pt x="0" y="0"/>
                </a:moveTo>
                <a:lnTo>
                  <a:pt x="14969791" y="0"/>
                </a:lnTo>
                <a:lnTo>
                  <a:pt x="14969791" y="8321139"/>
                </a:lnTo>
                <a:lnTo>
                  <a:pt x="0" y="83211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-567077" y="8321139"/>
            <a:ext cx="20289043" cy="1485257"/>
            <a:chOff x="0" y="0"/>
            <a:chExt cx="5343616" cy="3911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43616" cy="391179"/>
            </a:xfrm>
            <a:custGeom>
              <a:avLst/>
              <a:gdLst/>
              <a:ahLst/>
              <a:cxnLst/>
              <a:rect l="l" t="t" r="r" b="b"/>
              <a:pathLst>
                <a:path w="5343616" h="391179">
                  <a:moveTo>
                    <a:pt x="5140416" y="0"/>
                  </a:moveTo>
                  <a:lnTo>
                    <a:pt x="0" y="0"/>
                  </a:lnTo>
                  <a:lnTo>
                    <a:pt x="0" y="391179"/>
                  </a:lnTo>
                  <a:lnTo>
                    <a:pt x="5140416" y="391179"/>
                  </a:lnTo>
                  <a:lnTo>
                    <a:pt x="5343616" y="195589"/>
                  </a:lnTo>
                  <a:lnTo>
                    <a:pt x="5140416" y="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229316" cy="429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824243" y="8635018"/>
            <a:ext cx="1935800" cy="857499"/>
          </a:xfrm>
          <a:custGeom>
            <a:avLst/>
            <a:gdLst/>
            <a:ahLst/>
            <a:cxnLst/>
            <a:rect l="l" t="t" r="r" b="b"/>
            <a:pathLst>
              <a:path w="1935800" h="857499">
                <a:moveTo>
                  <a:pt x="0" y="0"/>
                </a:moveTo>
                <a:lnTo>
                  <a:pt x="1935800" y="0"/>
                </a:lnTo>
                <a:lnTo>
                  <a:pt x="1935800" y="857499"/>
                </a:lnTo>
                <a:lnTo>
                  <a:pt x="0" y="857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TextBox 7"/>
          <p:cNvSpPr txBox="1"/>
          <p:nvPr/>
        </p:nvSpPr>
        <p:spPr>
          <a:xfrm>
            <a:off x="1028700" y="8689118"/>
            <a:ext cx="2077403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FFFFFF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Facultad de minas</a:t>
            </a:r>
          </a:p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FFFFFF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Sede Medellín</a:t>
            </a:r>
          </a:p>
        </p:txBody>
      </p:sp>
      <p:sp>
        <p:nvSpPr>
          <p:cNvPr id="8" name="Freeform 8"/>
          <p:cNvSpPr/>
          <p:nvPr/>
        </p:nvSpPr>
        <p:spPr>
          <a:xfrm>
            <a:off x="760879" y="4225050"/>
            <a:ext cx="3743779" cy="3828865"/>
          </a:xfrm>
          <a:custGeom>
            <a:avLst/>
            <a:gdLst/>
            <a:ahLst/>
            <a:cxnLst/>
            <a:rect l="l" t="t" r="r" b="b"/>
            <a:pathLst>
              <a:path w="3743779" h="3828865">
                <a:moveTo>
                  <a:pt x="0" y="0"/>
                </a:moveTo>
                <a:lnTo>
                  <a:pt x="3743779" y="0"/>
                </a:lnTo>
                <a:lnTo>
                  <a:pt x="3743779" y="3828866"/>
                </a:lnTo>
                <a:lnTo>
                  <a:pt x="0" y="3828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TextBox 9"/>
          <p:cNvSpPr txBox="1"/>
          <p:nvPr/>
        </p:nvSpPr>
        <p:spPr>
          <a:xfrm>
            <a:off x="526672" y="1740937"/>
            <a:ext cx="2106097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223722" y="0"/>
            <a:ext cx="15064278" cy="8352053"/>
          </a:xfrm>
          <a:custGeom>
            <a:avLst/>
            <a:gdLst/>
            <a:ahLst/>
            <a:cxnLst/>
            <a:rect l="l" t="t" r="r" b="b"/>
            <a:pathLst>
              <a:path w="15064278" h="8352053">
                <a:moveTo>
                  <a:pt x="0" y="0"/>
                </a:moveTo>
                <a:lnTo>
                  <a:pt x="15064278" y="0"/>
                </a:lnTo>
                <a:lnTo>
                  <a:pt x="15064278" y="8352053"/>
                </a:lnTo>
                <a:lnTo>
                  <a:pt x="0" y="835205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75" r="-475"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-567077" y="8321139"/>
            <a:ext cx="20289043" cy="1485257"/>
            <a:chOff x="0" y="0"/>
            <a:chExt cx="5343616" cy="3911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43616" cy="391179"/>
            </a:xfrm>
            <a:custGeom>
              <a:avLst/>
              <a:gdLst/>
              <a:ahLst/>
              <a:cxnLst/>
              <a:rect l="l" t="t" r="r" b="b"/>
              <a:pathLst>
                <a:path w="5343616" h="391179">
                  <a:moveTo>
                    <a:pt x="5140416" y="0"/>
                  </a:moveTo>
                  <a:lnTo>
                    <a:pt x="0" y="0"/>
                  </a:lnTo>
                  <a:lnTo>
                    <a:pt x="0" y="391179"/>
                  </a:lnTo>
                  <a:lnTo>
                    <a:pt x="5140416" y="391179"/>
                  </a:lnTo>
                  <a:lnTo>
                    <a:pt x="5343616" y="195589"/>
                  </a:lnTo>
                  <a:lnTo>
                    <a:pt x="5140416" y="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229316" cy="429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824243" y="8635018"/>
            <a:ext cx="1935800" cy="857499"/>
          </a:xfrm>
          <a:custGeom>
            <a:avLst/>
            <a:gdLst/>
            <a:ahLst/>
            <a:cxnLst/>
            <a:rect l="l" t="t" r="r" b="b"/>
            <a:pathLst>
              <a:path w="1935800" h="857499">
                <a:moveTo>
                  <a:pt x="0" y="0"/>
                </a:moveTo>
                <a:lnTo>
                  <a:pt x="1935800" y="0"/>
                </a:lnTo>
                <a:lnTo>
                  <a:pt x="1935800" y="857499"/>
                </a:lnTo>
                <a:lnTo>
                  <a:pt x="0" y="857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TextBox 7"/>
          <p:cNvSpPr txBox="1"/>
          <p:nvPr/>
        </p:nvSpPr>
        <p:spPr>
          <a:xfrm>
            <a:off x="1028700" y="8689118"/>
            <a:ext cx="2077403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FFFFFF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Facultad de minas</a:t>
            </a:r>
          </a:p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FFFFFF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Sede Medellín</a:t>
            </a:r>
          </a:p>
        </p:txBody>
      </p:sp>
      <p:sp>
        <p:nvSpPr>
          <p:cNvPr id="8" name="Freeform 8"/>
          <p:cNvSpPr/>
          <p:nvPr/>
        </p:nvSpPr>
        <p:spPr>
          <a:xfrm>
            <a:off x="760879" y="4225050"/>
            <a:ext cx="3743779" cy="3828865"/>
          </a:xfrm>
          <a:custGeom>
            <a:avLst/>
            <a:gdLst/>
            <a:ahLst/>
            <a:cxnLst/>
            <a:rect l="l" t="t" r="r" b="b"/>
            <a:pathLst>
              <a:path w="3743779" h="3828865">
                <a:moveTo>
                  <a:pt x="0" y="0"/>
                </a:moveTo>
                <a:lnTo>
                  <a:pt x="3743779" y="0"/>
                </a:lnTo>
                <a:lnTo>
                  <a:pt x="3743779" y="3828866"/>
                </a:lnTo>
                <a:lnTo>
                  <a:pt x="0" y="38288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9" name="TextBox 9"/>
          <p:cNvSpPr txBox="1"/>
          <p:nvPr/>
        </p:nvSpPr>
        <p:spPr>
          <a:xfrm>
            <a:off x="526672" y="1740937"/>
            <a:ext cx="2106097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2024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67077" y="8321139"/>
            <a:ext cx="20289043" cy="1485257"/>
            <a:chOff x="0" y="0"/>
            <a:chExt cx="5343616" cy="3911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43616" cy="391179"/>
            </a:xfrm>
            <a:custGeom>
              <a:avLst/>
              <a:gdLst/>
              <a:ahLst/>
              <a:cxnLst/>
              <a:rect l="l" t="t" r="r" b="b"/>
              <a:pathLst>
                <a:path w="5343616" h="391179">
                  <a:moveTo>
                    <a:pt x="5140416" y="0"/>
                  </a:moveTo>
                  <a:lnTo>
                    <a:pt x="0" y="0"/>
                  </a:lnTo>
                  <a:lnTo>
                    <a:pt x="0" y="391179"/>
                  </a:lnTo>
                  <a:lnTo>
                    <a:pt x="5140416" y="391179"/>
                  </a:lnTo>
                  <a:lnTo>
                    <a:pt x="5343616" y="195589"/>
                  </a:lnTo>
                  <a:lnTo>
                    <a:pt x="5140416" y="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229316" cy="429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5824243" y="8635018"/>
            <a:ext cx="1935800" cy="857499"/>
          </a:xfrm>
          <a:custGeom>
            <a:avLst/>
            <a:gdLst/>
            <a:ahLst/>
            <a:cxnLst/>
            <a:rect l="l" t="t" r="r" b="b"/>
            <a:pathLst>
              <a:path w="1935800" h="857499">
                <a:moveTo>
                  <a:pt x="0" y="0"/>
                </a:moveTo>
                <a:lnTo>
                  <a:pt x="1935800" y="0"/>
                </a:lnTo>
                <a:lnTo>
                  <a:pt x="1935800" y="857499"/>
                </a:lnTo>
                <a:lnTo>
                  <a:pt x="0" y="8574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6" name="Freeform 6"/>
          <p:cNvSpPr/>
          <p:nvPr/>
        </p:nvSpPr>
        <p:spPr>
          <a:xfrm>
            <a:off x="4451026" y="0"/>
            <a:ext cx="13836974" cy="8347837"/>
          </a:xfrm>
          <a:custGeom>
            <a:avLst/>
            <a:gdLst/>
            <a:ahLst/>
            <a:cxnLst/>
            <a:rect l="l" t="t" r="r" b="b"/>
            <a:pathLst>
              <a:path w="13836974" h="8347837">
                <a:moveTo>
                  <a:pt x="0" y="0"/>
                </a:moveTo>
                <a:lnTo>
                  <a:pt x="13836974" y="0"/>
                </a:lnTo>
                <a:lnTo>
                  <a:pt x="13836974" y="8347837"/>
                </a:lnTo>
                <a:lnTo>
                  <a:pt x="0" y="83478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7" name="Freeform 7"/>
          <p:cNvSpPr/>
          <p:nvPr/>
        </p:nvSpPr>
        <p:spPr>
          <a:xfrm>
            <a:off x="1028700" y="2080519"/>
            <a:ext cx="4627186" cy="5827635"/>
          </a:xfrm>
          <a:custGeom>
            <a:avLst/>
            <a:gdLst/>
            <a:ahLst/>
            <a:cxnLst/>
            <a:rect l="l" t="t" r="r" b="b"/>
            <a:pathLst>
              <a:path w="4627186" h="5827635">
                <a:moveTo>
                  <a:pt x="0" y="0"/>
                </a:moveTo>
                <a:lnTo>
                  <a:pt x="4627186" y="0"/>
                </a:lnTo>
                <a:lnTo>
                  <a:pt x="4627186" y="5827635"/>
                </a:lnTo>
                <a:lnTo>
                  <a:pt x="0" y="58276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TextBox 8"/>
          <p:cNvSpPr txBox="1"/>
          <p:nvPr/>
        </p:nvSpPr>
        <p:spPr>
          <a:xfrm>
            <a:off x="1028700" y="8689118"/>
            <a:ext cx="2077403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FFFFFF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Facultad de minas</a:t>
            </a:r>
          </a:p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FFFFFF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Sede Medellín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693430" y="0"/>
            <a:ext cx="14594570" cy="8407398"/>
          </a:xfrm>
          <a:custGeom>
            <a:avLst/>
            <a:gdLst/>
            <a:ahLst/>
            <a:cxnLst/>
            <a:rect l="l" t="t" r="r" b="b"/>
            <a:pathLst>
              <a:path w="14594570" h="8407398">
                <a:moveTo>
                  <a:pt x="0" y="0"/>
                </a:moveTo>
                <a:lnTo>
                  <a:pt x="14594570" y="0"/>
                </a:lnTo>
                <a:lnTo>
                  <a:pt x="14594570" y="8407398"/>
                </a:lnTo>
                <a:lnTo>
                  <a:pt x="0" y="840739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grpSp>
        <p:nvGrpSpPr>
          <p:cNvPr id="3" name="Group 3"/>
          <p:cNvGrpSpPr/>
          <p:nvPr/>
        </p:nvGrpSpPr>
        <p:grpSpPr>
          <a:xfrm>
            <a:off x="-567077" y="8321139"/>
            <a:ext cx="20289043" cy="1485257"/>
            <a:chOff x="0" y="0"/>
            <a:chExt cx="5343616" cy="39117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343616" cy="391179"/>
            </a:xfrm>
            <a:custGeom>
              <a:avLst/>
              <a:gdLst/>
              <a:ahLst/>
              <a:cxnLst/>
              <a:rect l="l" t="t" r="r" b="b"/>
              <a:pathLst>
                <a:path w="5343616" h="391179">
                  <a:moveTo>
                    <a:pt x="5140416" y="0"/>
                  </a:moveTo>
                  <a:lnTo>
                    <a:pt x="0" y="0"/>
                  </a:lnTo>
                  <a:lnTo>
                    <a:pt x="0" y="391179"/>
                  </a:lnTo>
                  <a:lnTo>
                    <a:pt x="5140416" y="391179"/>
                  </a:lnTo>
                  <a:lnTo>
                    <a:pt x="5343616" y="195589"/>
                  </a:lnTo>
                  <a:lnTo>
                    <a:pt x="5140416" y="0"/>
                  </a:lnTo>
                  <a:close/>
                </a:path>
              </a:pathLst>
            </a:custGeom>
            <a:solidFill>
              <a:srgbClr val="C8D1D9"/>
            </a:solidFill>
          </p:spPr>
          <p:txBody>
            <a:bodyPr/>
            <a:lstStyle/>
            <a:p>
              <a:endParaRPr lang="es-C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5229316" cy="4292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5824243" y="8635018"/>
            <a:ext cx="1935800" cy="857499"/>
          </a:xfrm>
          <a:custGeom>
            <a:avLst/>
            <a:gdLst/>
            <a:ahLst/>
            <a:cxnLst/>
            <a:rect l="l" t="t" r="r" b="b"/>
            <a:pathLst>
              <a:path w="1935800" h="857499">
                <a:moveTo>
                  <a:pt x="0" y="0"/>
                </a:moveTo>
                <a:lnTo>
                  <a:pt x="1935800" y="0"/>
                </a:lnTo>
                <a:lnTo>
                  <a:pt x="1935800" y="857499"/>
                </a:lnTo>
                <a:lnTo>
                  <a:pt x="0" y="857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CO"/>
          </a:p>
        </p:txBody>
      </p:sp>
      <p:sp>
        <p:nvSpPr>
          <p:cNvPr id="8" name="TextBox 8"/>
          <p:cNvSpPr txBox="1"/>
          <p:nvPr/>
        </p:nvSpPr>
        <p:spPr>
          <a:xfrm>
            <a:off x="1028700" y="8689118"/>
            <a:ext cx="2077403" cy="701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FFFFFF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Facultad de minas</a:t>
            </a:r>
          </a:p>
          <a:p>
            <a:pPr algn="ctr">
              <a:lnSpc>
                <a:spcPts val="2800"/>
              </a:lnSpc>
            </a:pPr>
            <a:r>
              <a:rPr lang="en-US" sz="2000" b="1" i="1">
                <a:solidFill>
                  <a:srgbClr val="FFFFFF"/>
                </a:solidFill>
                <a:latin typeface="Cambria Bold Italics"/>
                <a:ea typeface="Cambria Bold Italics"/>
                <a:cs typeface="Cambria Bold Italics"/>
                <a:sym typeface="Cambria Bold Italics"/>
              </a:rPr>
              <a:t>Sede Medellín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08F27D8-0987-E7BB-FEC8-7B35E7B101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4851585"/>
            <a:ext cx="2667000" cy="32168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27471" y="2138496"/>
            <a:ext cx="17282209" cy="7711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33194" lvl="1" indent="-316597" algn="l">
              <a:lnSpc>
                <a:spcPts val="4105"/>
              </a:lnSpc>
              <a:spcBef>
                <a:spcPct val="0"/>
              </a:spcBef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MapBiomas Colombia. (2025). Colección 3.0: Mapas anuales de cobertura y uso del suelo de Colombia (1985–2024). https://colombia.mapbiomas.org/productos/</a:t>
            </a:r>
          </a:p>
          <a:p>
            <a:pPr algn="l">
              <a:lnSpc>
                <a:spcPts val="4105"/>
              </a:lnSpc>
              <a:spcBef>
                <a:spcPct val="0"/>
              </a:spcBef>
            </a:pPr>
            <a:endParaRPr lang="en-US" sz="2932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633194" lvl="1" indent="-316597" algn="l">
              <a:lnSpc>
                <a:spcPts val="4105"/>
              </a:lnSpc>
              <a:spcBef>
                <a:spcPct val="0"/>
              </a:spcBef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Global Forest Watch. (2025) Tree cover loss data. World Resources Institute. https://www.globalforestwatch.org/</a:t>
            </a:r>
          </a:p>
          <a:p>
            <a:pPr algn="l">
              <a:lnSpc>
                <a:spcPts val="4105"/>
              </a:lnSpc>
              <a:spcBef>
                <a:spcPct val="0"/>
              </a:spcBef>
            </a:pPr>
            <a:endParaRPr lang="en-US" sz="2932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633194" lvl="1" indent="-316597" algn="l">
              <a:lnSpc>
                <a:spcPts val="4105"/>
              </a:lnSpc>
              <a:spcBef>
                <a:spcPct val="0"/>
              </a:spcBef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Hansen, M. C., Potapov, P. V., Moore, R., Hancher, M., Turubanova, S. A., Tyukavina, A., Thau, D., Stehman, S. V., Goetz, S. J., Loveland, T. R., Kommareddy, A., Egorov, A., Chini, L., Justice, C. O., &amp; Townshend, J. R. G. (2013). High-resolution global maps of 21st-century forest cover change. Science, 342(6160), 850–853. https://doi.org/10.1126/science.1244693</a:t>
            </a:r>
          </a:p>
          <a:p>
            <a:pPr algn="l">
              <a:lnSpc>
                <a:spcPts val="4105"/>
              </a:lnSpc>
              <a:spcBef>
                <a:spcPct val="0"/>
              </a:spcBef>
            </a:pPr>
            <a:endParaRPr lang="en-US" sz="2932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633194" lvl="1" indent="-316597" algn="l">
              <a:lnSpc>
                <a:spcPts val="4105"/>
              </a:lnSpc>
              <a:spcBef>
                <a:spcPct val="0"/>
              </a:spcBef>
              <a:buFont typeface="Arial"/>
              <a:buChar char="•"/>
            </a:pPr>
            <a:r>
              <a:rPr lang="en-US" sz="2932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Corporación Autónoma Regional de los Valles del Sinú y del San Jorge (CVS) &amp; Instituto de Investigación de Recursos Biológicos Alexander von Humboldt. (2006). Acuerdo 056 de 2006: Declaratoria del Distrito de Manejo Integrado de las áreas de manglar de la bahía de Cispatá, La Balsa, Tinajones y sectores aledaños al delta estuarino del río Sinú.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282508" y="588918"/>
            <a:ext cx="9069803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sz="6999" b="1">
                <a:solidFill>
                  <a:srgbClr val="000000"/>
                </a:solidFill>
                <a:latin typeface="Cambria Bold"/>
                <a:ea typeface="Cambria Bold"/>
                <a:cs typeface="Cambria Bold"/>
                <a:sym typeface="Cambria Bold"/>
              </a:rPr>
              <a:t>Referencias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340</Words>
  <Application>Microsoft Office PowerPoint</Application>
  <PresentationFormat>Personalizado</PresentationFormat>
  <Paragraphs>37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8" baseType="lpstr">
      <vt:lpstr>Arial</vt:lpstr>
      <vt:lpstr>Cambria Bold</vt:lpstr>
      <vt:lpstr>Cambria Bold Italics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Inicial AG</dc:title>
  <cp:lastModifiedBy>Sebastián  Upegui</cp:lastModifiedBy>
  <cp:revision>2</cp:revision>
  <dcterms:created xsi:type="dcterms:W3CDTF">2006-08-16T00:00:00Z</dcterms:created>
  <dcterms:modified xsi:type="dcterms:W3CDTF">2026-10-09T12:56:25Z</dcterms:modified>
  <dc:identifier>DAHXbhA4w9o</dc:identifier>
</cp:coreProperties>
</file>